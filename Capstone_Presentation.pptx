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6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2.png"/><Relationship Id="rId1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 Hybrid GA + Q-Learning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39C12"/>
                </a:solidFill>
              </a:rPr>
              <a:t>for Battery-Constrained Drone Routing in WRSNs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423160"/>
            <a:ext cx="5788152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D. Raja Yadidiah Dakey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CCFF"/>
                </a:solidFill>
              </a:rPr>
              <a:t>CS5100 Foundations of AI  ·  Northeastern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CC"/>
                </a:solidFill>
              </a:rPr>
              <a:t>Extension of B.Tech FYP — NIT Trichy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14800"/>
            <a:ext cx="274320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🧬  Genetic Algorithm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7448" y="4114800"/>
            <a:ext cx="2743200" cy="45720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🤖  Q-Learning / DQL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4114800"/>
            <a:ext cx="2743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🚁  WRSN Drone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AACC"/>
                </a:solidFill>
              </a:rPr>
              <a:t>The Hybrid Offline-Online Architecture that beats individual approaches by up to 61%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What we'll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48640" cy="576072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270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7556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Why this is hard &amp; 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84832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084832"/>
            <a:ext cx="548640" cy="5760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94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130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Two-Layer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4231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The big picture — offline + online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52344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752344"/>
            <a:ext cx="548640" cy="5760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62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9806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Layer 1: Genetic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0906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Route planning, fitness function, improvements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19856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419856"/>
            <a:ext cx="548640" cy="57607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52958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655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Layer 2: Q-Learning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75818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Disruption recovery, MDP, reward shaping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87368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C44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87368"/>
            <a:ext cx="548640" cy="576072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970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1330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Double Q-Learning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4256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Fixing overestimation bias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54880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754880"/>
            <a:ext cx="548640" cy="5760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864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Experiments &amp;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932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5 test cases, 5 algorithms compared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422392"/>
            <a:ext cx="11430000" cy="576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5422392"/>
            <a:ext cx="548640" cy="5760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5321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468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Key Takeaways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760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What the results mean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What are we trying to solve?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303520" cy="4846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The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56232"/>
            <a:ext cx="5120640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11095"/>
            <a:ext cx="512064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▶  A drone must visit &amp; recharge N sensor nodes
▶  Each sensor has limited battery (re &lt; 50% needs help)
▶  Sensors have different urgency levels (dl) and drain rates (ecr)
▶  5 fixed charging stations on the 200m × 200m field
▶  Drone starts each mission at 80% battery
▶  57% of steps: at least one random disruption fires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417320"/>
            <a:ext cx="6035040" cy="2240280"/>
          </a:xfrm>
          <a:prstGeom prst="rect">
            <a:avLst/>
          </a:prstGeom>
          <a:solidFill>
            <a:srgbClr val="D6EAF8"/>
          </a:solidFill>
          <a:ln w="1524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1508760"/>
            <a:ext cx="5852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⚠️  Two Hard Sub-Problems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56232"/>
            <a:ext cx="5852159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1911095"/>
            <a:ext cx="58521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▶  NP-Hard routing: N! possible orderings (3×10⁶⁴ for N=50)
▶  Online recovery: disruptions at every step, unpredictable
▶  Neither can be solved independently — need BOTH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840480"/>
            <a:ext cx="60350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913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🎲  4 Random Disruptions per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279392"/>
            <a:ext cx="576072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💨 Wind Drain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20% chance  →  lose 5–18% battery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7731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⛽ Charger 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731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30% chance  →  nearest station full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20293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🆘 Urgent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2029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15% chance  →  forced detour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632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⚡ Battery Spike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6327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10% chance  →  lose 8–20% suddenly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Two-Layer 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Offline planning + Online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3035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30352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LAYER 1  —  Genetic Algorithm (Offline)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⏱  Runs BEFORE the drone takes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🧬  Evolves 150 routes over 300–500 generations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🎯  Optimises: Distance + Waiting Time + Deadlines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🏆  Tournament selection (k=5) replaces roulette wheel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🔀  Ordered crossover preserves valid permutations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📉  Adaptive mutation: 2%→0.3% over generations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✂️   2-opt local search removes all route crossings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154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6118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39C12"/>
                </a:solidFill>
              </a:rPr>
              <a:t>Best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417320"/>
            <a:ext cx="53035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417320"/>
            <a:ext cx="5303520" cy="50292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LAYER 2  —  Q-Learning (Online)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🚁  Runs DURING the drone's 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🤖  Trained for 500 episodes on random disruptions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📊  State: (SOC bucket, nearest charger, nodes left)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⚡  Actions: Continue / Quick Charge / Full Recharge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🎯  3-tier severity: Critical / Moderate / Mild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📉  Epsilon &amp; learning rate decay over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754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🎲  Double Q-Learning removes overestimation bias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23560"/>
            <a:ext cx="11640312" cy="8229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687568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🔑  Key Insight:  Layer 1 alone → can't handle disruptions (0% recovery rate).   Layer 2 alone → bad route wastes time.   Together → best of both worlds.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Fitness Function — The Core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What makes this order-dependent (the critical fix)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9144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39C12"/>
                </a:solidFill>
              </a:rPr>
              <a:t>F(π)  =  D(π)  +  0.3 × T_wait(π)  +  0.5 × T_overtime(π)  +  0.1 × F_balance(π)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2816352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2816352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578608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D(π)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044952"/>
            <a:ext cx="2679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Total Route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474720"/>
            <a:ext cx="2679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Sum of Euclidean distances between consecutive nodes in the route.
Shorter path = less battery wasted on travel.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2633472" cy="274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5349240"/>
            <a:ext cx="2679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weight = 1.0  (implicit)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1" y="2514600"/>
            <a:ext cx="2816352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3551" y="2514600"/>
            <a:ext cx="281635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3" y="2578608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T_wait(π)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3" y="3044952"/>
            <a:ext cx="2679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Cumulative Waiting Time 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3" y="3474720"/>
            <a:ext cx="2679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Time each sensor waits = arrival time + charge time.
ARRIVAL TIME depends on route order → every node visited before it adds to the wait.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1" y="5257800"/>
            <a:ext cx="2633472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46703" y="5349240"/>
            <a:ext cx="2679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weight = 0.3  (moderate)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3" y="2514600"/>
            <a:ext cx="2816352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2514600"/>
            <a:ext cx="2816352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578608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T_overtime(π)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044952"/>
            <a:ext cx="2679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Deadline Violations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3474720"/>
            <a:ext cx="2679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If a sensor waits longer than its tolerable deadline (dl×10+20 sec), the excess is penalised.
Deadline = priority × 10 + 20 seconds.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3" y="5257800"/>
            <a:ext cx="2633472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5349240"/>
            <a:ext cx="2679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weight = 0.5  (HIGHEST — hard constraint)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2016" y="2514600"/>
            <a:ext cx="2816352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2016" y="2514600"/>
            <a:ext cx="2816352" cy="45720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2578608"/>
            <a:ext cx="2679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F_balance(π)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8" y="3044952"/>
            <a:ext cx="2679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72B3"/>
                </a:solidFill>
              </a:rPr>
              <a:t>Fairness Deviation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8" y="3474720"/>
            <a:ext cx="26791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Measures how evenly the drone serves sensors relative to their urgency weight w = ecr/re.
Prevents ignoring some sensors while over-serving others.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63456" y="5257800"/>
            <a:ext cx="2633472" cy="2743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45168" y="5349240"/>
            <a:ext cx="2679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72B3"/>
                </a:solidFill>
              </a:rPr>
              <a:t>weight = 0.1  (regularizer)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126480"/>
            <a:ext cx="11640312" cy="59436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⭐ KEY FIX over original FYP:  Old fitness terms were CONSTANT regardless of visit order → GA could only optimise distance.  Now T_wait and T_overtime depend on position in route → GA meaningfully optimises ALL four objectives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Genetic Algorithm — Improved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How routes evolve across 300–500 generations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30352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3035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1️⃣  Tournament Selection  (replaces roulette)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2024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Pick 5 random routes → best one wins →
repeated until mating pool is full.
Why better than roulette?
Roulette lets one dominant route take over the
whole population → diversity lost → stuck in
local optima.  Tournament preserves diversity.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417320"/>
            <a:ext cx="60350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1417320"/>
            <a:ext cx="60350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1888" y="14630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2️⃣  Adaptive Mutation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1874519"/>
            <a:ext cx="5989320" cy="1371600"/>
          </a:xfrm>
          <a:prstGeom prst="rect">
            <a:avLst/>
          </a:prstGeom>
          <a:solidFill>
            <a:srgbClr val="2C3E5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1888" y="1965960"/>
            <a:ext cx="5806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D4FF"/>
                </a:solidFill>
              </a:rPr>
              <a:t>p_m(g) = max(0.003,
             0.02 × (1 - 0.7×g/G))
Generation 0   → p_m = 2.0%   (explore)
Generation 300 → p_m = 0.6%  (exploit)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5303520" cy="41148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77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3️⃣  Ordered Crossover (OX)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407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Why not standard crossover?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Routes are permutations — each sensor must appear exactly once.
Standard crossover creates duplicates → invalid routes.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166360"/>
            <a:ext cx="5212080" cy="1234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525780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D4FF"/>
                </a:solidFill>
              </a:rPr>
              <a:t>Parent 1:  [A  B  C  D  E  F  G]
Parent 2:  [E  C  G  A  F  B  D]
Slice P1:        [C  D  E]
Child:     [C  D  E] + [G  A  F  B]  ✓ valid!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931920"/>
            <a:ext cx="60350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52160" y="3931920"/>
            <a:ext cx="603504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397763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4️⃣  2-opt Local Search (post-GA polish)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40740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After GA finishes, remove all route crossings:
Try reversing every segment [i→j]. If shorter → keep it.
Repeat until no improvement (full window, up to 200 passes).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1888" y="50292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Result on 100-node problem: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5394960"/>
            <a:ext cx="2743200" cy="43891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5422392"/>
            <a:ext cx="27432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Old (bounded win): Δ = 299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5394960"/>
            <a:ext cx="28346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5422392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 (full window): Δ = 4,821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GA Results — Convergence Across All Test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Fitness drops 21–62% from initial random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7/24</a:t>
            </a:r>
          </a:p>
        </p:txBody>
      </p:sp>
      <p:pic>
        <p:nvPicPr>
          <p:cNvPr id="10" name="Picture 9" descr="plot01_ga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955279" cy="5120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412480" y="1417320"/>
            <a:ext cx="356616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08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Convergence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920240"/>
            <a:ext cx="3291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2029968"/>
            <a:ext cx="3291840" cy="6858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05740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TC1  25 nodes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33172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49.7% 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825496"/>
            <a:ext cx="3291840" cy="6858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85292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TC2  25 nodes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1272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21.7%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621024"/>
            <a:ext cx="3291840" cy="6858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64845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TC3  50 nodes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92277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53.0% improvement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4416552"/>
            <a:ext cx="3291840" cy="6858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4443983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TC4  50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71830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61.8% improvement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5212080"/>
            <a:ext cx="3291840" cy="6858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52395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TC5 100 nodes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513831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61.3% improvement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989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86C1"/>
                </a:solidFill>
              </a:rPr>
              <a:t>All curves smooth &amp; converging ✓
(order-dependent fitness working)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GA Improvement — Enhanced vs Original (FYP)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61.4% better fitness with tournament + adaptive mutation + 2-opt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8/24</a:t>
            </a:r>
          </a:p>
        </p:txBody>
      </p:sp>
      <p:pic>
        <p:nvPicPr>
          <p:cNvPr id="10" name="Picture 9" descr="plot12_ga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772400" cy="5120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0" y="1417320"/>
            <a:ext cx="3749039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What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38328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011680"/>
            <a:ext cx="3383280" cy="1965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848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🔴  ORIGINAL 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5059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Roulette selection
Fixed mutation 1%
No 2-opt
Bounded fitness (flat)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4114800"/>
            <a:ext cx="3383280" cy="1965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187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🟢  IMPROVED 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55371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Tournament k=5
Adaptive 2%→0.3%
Full 2-opt window
Order-dependent fitness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6035040"/>
            <a:ext cx="356616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6062472"/>
            <a:ext cx="3566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Final result: 7508 → 2901 (61.4% better)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Layer 2 — Q-Learning: MDP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Modelling disruption recovery as a Markov 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4747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4747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 STATE  s_t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65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A 3-number tuple: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04288"/>
            <a:ext cx="3401568" cy="1828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395728"/>
            <a:ext cx="32186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D4FF"/>
                </a:solidFill>
              </a:rPr>
              <a:t>s = (SOC_bucket,
     charger_id,
     nodes_remaining)
SOC:    10 bins  (0-9)
Charger: 5 options (0-4)
Nodes:  11 values (0-10)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41879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Total: 10×5×11 = 550 states
→ small enough for a lookup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417320"/>
            <a:ext cx="34747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417320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ACTION  a_t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965960"/>
            <a:ext cx="3291840" cy="79552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1965960"/>
            <a:ext cx="914400" cy="7955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1993391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Action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CONTINUE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2304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Keep going, absorb
the hit. Costs 3-8%
battery, saves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852928"/>
            <a:ext cx="3291840" cy="79552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2852928"/>
            <a:ext cx="914400" cy="7955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880360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Action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2898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QUICK CHARGE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319125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Fly to charger,
gain +70% SOC,
moderate time cost.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739896"/>
            <a:ext cx="3291840" cy="79552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3739896"/>
            <a:ext cx="914400" cy="795528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7673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Action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9552" y="37856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FULL RECHARGE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9552" y="407822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Full charge with
safety buffer time.
Safest, slowest.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743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39C12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417320"/>
            <a:ext cx="32004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0" y="1417320"/>
            <a:ext cx="320040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96528" y="14630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🏆  REWARD  r_t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78240" y="1965960"/>
            <a:ext cx="2926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19933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🔴 Critical (&lt;25% SOC)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26771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Continue:  -350
Charge:   +SOC×3 + bonus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2880360"/>
            <a:ext cx="2926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29077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🟡 Moderate (25-42%)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18211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Continue:  -140
Charge:   +SOC×2 + bonus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3794760"/>
            <a:ext cx="2926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3822191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50"/>
                </a:solidFill>
              </a:rPr>
              <a:t>🟢 Mild (blocked &gt;55%)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409651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Continue:  +15 ✓
Charge:    +5 - dist cost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937760"/>
            <a:ext cx="11640312" cy="1143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0109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Q-Learning Update Rule: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949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Q(s,a)  ←  Q(s,a)  +  α  ×  [ r  +  γ × max_a' Q(s',a')  −  Q(s,a)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Three-Tier Disruption Severity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Not all disruptions are equal — the agent responds proportionally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822191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822191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36393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🔴 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3639311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3055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TRIGGER: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04872"/>
            <a:ext cx="36393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SOC &lt; 25%  OR
projected SOC at charger &lt;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26080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MEANING: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363931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Drone is at risk of dying mid-flight.
Even flying to the charger might not be safe.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6791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REWARD SHAPE: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142232"/>
            <a:ext cx="363931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Continue:  −150 to −350  (severe punishment)
Charge:    +recovery×3 + bonus for high SOC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83480"/>
            <a:ext cx="3639311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074920"/>
            <a:ext cx="3639311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20640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👉  Agent MUST charge. Ignoring this = −350 reward.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1417320"/>
            <a:ext cx="3822191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1417320"/>
            <a:ext cx="3822191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1" y="1481328"/>
            <a:ext cx="36393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🟡  MODERATE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1" y="2011680"/>
            <a:ext cx="3639311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1" y="213055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TRIGGER: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1" y="2404872"/>
            <a:ext cx="36393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SOC 25–42%  OR
charger blocked &amp; SOC &lt; 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1" y="2926080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MEANING: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1" y="3200400"/>
            <a:ext cx="363931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Situation is concerning but not catastrophic.
Drone can still make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386791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REWARD SHAPE: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1" y="4142232"/>
            <a:ext cx="363931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Continue:  −40 to −140  (moderate punishment)
Charge:    +recovery×2 + bonus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1" y="4983480"/>
            <a:ext cx="3639311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1" y="5074920"/>
            <a:ext cx="3639311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5120640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👉  Agent usually charges, sometimes continues.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1417320"/>
            <a:ext cx="3822191" cy="5120640"/>
          </a:xfrm>
          <a:prstGeom prst="rect">
            <a:avLst/>
          </a:prstGeom>
          <a:solidFill>
            <a:srgbClr val="FFFFFF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4464" y="1417320"/>
            <a:ext cx="3822191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1481328"/>
            <a:ext cx="36393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🟢  MILD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75904" y="2011680"/>
            <a:ext cx="3639311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213055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TRIGGER: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2404872"/>
            <a:ext cx="36393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Charger blocked  AND
SOC ≥ 55%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2926080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MEANING: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3200400"/>
            <a:ext cx="3639311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Minor inconvenience — battery is fine.
Diverting would waste time for no reason.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3867912"/>
            <a:ext cx="3639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REWARD SHAPE: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4142232"/>
            <a:ext cx="363931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Continue:  +15  (REWARDED for staying on task!)
Charge:    +5 − distance 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75904" y="4983480"/>
            <a:ext cx="3639311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5904" y="5074920"/>
            <a:ext cx="3639311" cy="9144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5120640"/>
            <a:ext cx="363931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👉  Agent CONTINUES — diverting penalised.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Double Q-Learning — Fixing Overestimation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Why two Q-tables are better than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39496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39496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630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 Problem with Regular Q-Learning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65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The overestimation bug: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5321808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423160"/>
            <a:ext cx="51389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D4FF"/>
                </a:solidFill>
              </a:rPr>
              <a:t># Standard update:
td = r + γ × max( Q[next_state] ) − Q[s,a]
Q[s,a] += α × 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3101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The Problem: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61188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The max() operator ALWAYS picks the highest Q-value.
If some Q-values are noisy/overestimated by chance,
max() always selects those → the agent thinks
good states are BETTER than they really are.
→ Agent makes overconfident decisions
→ Suboptimal policy (thinks action 0 is great when it isn't)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417320"/>
            <a:ext cx="594360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1417320"/>
            <a:ext cx="5943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46304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Double Q-Learning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965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Two independent Q-tables, cross-checking: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331720"/>
            <a:ext cx="5833872" cy="1188720"/>
          </a:xfrm>
          <a:prstGeom prst="rect">
            <a:avLst/>
          </a:prstGeom>
          <a:solidFill>
            <a:srgbClr val="2C3E50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2423160"/>
            <a:ext cx="5650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BD4FF"/>
                </a:solidFill>
              </a:rPr>
              <a:t># Double Q update (50% of the time swap tables):
a_star = argmax( Q1[next_state] )
# Q1 picks the action
td = r + γ × Q2[next_state][a_star] − Q1[s,a]
# Q2 evaluates it
Q1[s,a] += α × 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58444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Why this works: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886200"/>
            <a:ext cx="5760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Q1 selects the action, Q2 evaluates its value.
Since Q1 and Q2 have INDEPENDENT estimation noise,
they can't both be wrong in the same direction.
→ Unbiased value estimates
→ Agent makes more realistic decisions
→ Better recovery rate on larger networks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172200"/>
            <a:ext cx="11640312" cy="56692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36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AA"/>
                </a:solidFill>
              </a:rPr>
              <a:t>Regular Q-Learning:  SOC violations = 0–6 per test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236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FFAA"/>
                </a:solidFill>
              </a:rPr>
              <a:t>Double Q-Learning:   SOC violations = 0–1 per test case 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Loop — Epsilon &amp; Learning Rate Decay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500 episodes: explore first, exploit later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7132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for ep in range(500):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29968"/>
            <a:ext cx="6766560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29968"/>
            <a:ext cx="32004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E86C1"/>
                </a:solidFill>
              </a:rPr>
              <a:t>eps = 1.0 - 0.97×(ep/500)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317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 Epsilon decreases each episode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15768"/>
            <a:ext cx="6766560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715768"/>
            <a:ext cx="32004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706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7AE60"/>
                </a:solidFill>
              </a:rPr>
              <a:t>lr  = 0.15 - 0.14×(ep/500)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175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 Learning rate decreases each episode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6766560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01568"/>
            <a:ext cx="320040" cy="59436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564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8172B3"/>
                </a:solidFill>
              </a:rPr>
              <a:t>seed = ep×7 + 13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033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 Different disruption pattern every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87368"/>
            <a:ext cx="6766560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87368"/>
            <a:ext cx="32004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1422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F39C12"/>
                </a:solidFill>
              </a:rPr>
              <a:t>simulate_episode(route, agent...)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3891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 Run one mission with current policy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73168"/>
            <a:ext cx="6766560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773168"/>
            <a:ext cx="32004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006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280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74C3C"/>
                </a:solidFill>
              </a:rPr>
              <a:t>record violations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0749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# Track how many times SOC &lt; 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86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7AE60"/>
                </a:solidFill>
              </a:rPr>
              <a:t># Final evaluation: held-out seed=999, eps=0 (pure exploit)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1417320"/>
            <a:ext cx="425196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26679" y="1508760"/>
            <a:ext cx="4023360" cy="21488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15819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Epsilon Decay
1.0 → 0.03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18120" y="2075688"/>
            <a:ext cx="3749039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2167128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Episode 1:   100% random actions
(toddler touching everything)
Episode 250: 50% learned, 50% random
Episode 500: 97% learned policy
(expert mode)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3813048"/>
            <a:ext cx="4023360" cy="21488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388620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LR Decay
0.15 → 0.01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4379976"/>
            <a:ext cx="3749039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20" y="4471416"/>
            <a:ext cx="374903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Episode 1:   Big corrections
(learning fast, noisy updates)
Episode 500: Tiny fine-tuning
(stable, converged Q-values)
Satisfies Robbins-Monro conditions
for convergence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5 test cases, 5 algorithms, 5 evaluation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713232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Test Cases — Increasing Network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01952"/>
            <a:ext cx="704088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920240"/>
            <a:ext cx="5486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192024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20240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920240"/>
            <a:ext cx="16459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Elite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192024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04288"/>
            <a:ext cx="7040880" cy="38404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3408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TC1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3408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23408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23408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23408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88336"/>
            <a:ext cx="7040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7249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TC2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2724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7712" y="2724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2724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27249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072384"/>
            <a:ext cx="7040880" cy="38404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108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TC3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2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3872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456432"/>
            <a:ext cx="7040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930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TC4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3493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7712" y="3493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34930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34930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840480"/>
            <a:ext cx="7040880" cy="384048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87705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TC5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38770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67712" y="38770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87952" y="3877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3872" y="38770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46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434840"/>
            <a:ext cx="71323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50799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5 Algorithms Compared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956048"/>
            <a:ext cx="2212848" cy="3474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98348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330952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No recovery — blind execution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79" y="4956048"/>
            <a:ext cx="2212848" cy="347472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79" y="498348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Q-Learning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97479" y="5330952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Random route + smart recovery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4956048"/>
            <a:ext cx="2212848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498348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 + Greedy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330952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Good route + always charge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19" y="4956048"/>
            <a:ext cx="2212848" cy="347472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60919" y="498348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Hybrid GA+QL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19" y="5330952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Good route + Q-learning recovery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4956048"/>
            <a:ext cx="2212848" cy="34747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4983480"/>
            <a:ext cx="221284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Hybrid GA+DQL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92640" y="5330952"/>
            <a:ext cx="22128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C3E50"/>
                </a:solidFill>
              </a:rPr>
              <a:t>Good route + Double Q recovery 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1417320"/>
            <a:ext cx="4325112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26679" y="14904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5 Evaluation Metrics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0" y="1965960"/>
            <a:ext cx="4114800" cy="74980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80960" y="1965960"/>
            <a:ext cx="77724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680960" y="1993391"/>
            <a:ext cx="777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AWT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8" y="199339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Average Waiting Time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22208" y="226771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How long sensors wait on average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199339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Lower ↓ better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80960" y="2788920"/>
            <a:ext cx="4114800" cy="74980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680960" y="2788920"/>
            <a:ext cx="77724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2816351"/>
            <a:ext cx="777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Survival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22208" y="28163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Survival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2208" y="30906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% sensors alive when served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281635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Higher ↑ better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80960" y="3611880"/>
            <a:ext cx="4114800" cy="74980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80960" y="3611880"/>
            <a:ext cx="77724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80960" y="3639312"/>
            <a:ext cx="777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MC Eff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22208" y="36393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MC Efficiency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22208" y="391363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Useful charging vs wasted travel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98480" y="363931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Higher ↑ better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80960" y="4434840"/>
            <a:ext cx="4114800" cy="74980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80960" y="4434840"/>
            <a:ext cx="77724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80960" y="4462272"/>
            <a:ext cx="777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SOC Viol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446227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SOC Violations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22208" y="473659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Times drone battery &lt; 30%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44622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Lower ↓ better
(0 = perfect)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680960" y="5257800"/>
            <a:ext cx="4114800" cy="749808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680960" y="5257800"/>
            <a:ext cx="777240" cy="7498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80960" y="5285232"/>
            <a:ext cx="7772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Rec Rate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22208" y="52852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34E"/>
                </a:solidFill>
              </a:rPr>
              <a:t>Recovery Rate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22208" y="5559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3E50"/>
                </a:solidFill>
              </a:rPr>
              <a:t>% disruptions successfully handled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98480" y="528523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Higher ↑ better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Algorithm Comparison (Average Waiting 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Lower is better — Hybrid methods outperform across all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14/24</a:t>
            </a:r>
          </a:p>
        </p:txBody>
      </p:sp>
      <p:pic>
        <p:nvPicPr>
          <p:cNvPr id="10" name="Picture 9" descr="plot06a_compare_aw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863840" cy="3291840"/>
          </a:xfrm>
          <a:prstGeom prst="rect">
            <a:avLst/>
          </a:prstGeom>
        </p:spPr>
      </p:pic>
      <p:pic>
        <p:nvPicPr>
          <p:cNvPr id="11" name="Picture 10" descr="plot06d_compare_vi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7863840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21040" y="1417320"/>
            <a:ext cx="36576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Key Takeaways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920240"/>
            <a:ext cx="329184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029968"/>
            <a:ext cx="3291840" cy="80467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029968"/>
            <a:ext cx="73152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084831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Hybrid GA+DQL achieves lowest SOC violations (near 0) on ALL test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926080"/>
            <a:ext cx="3291840" cy="80467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926080"/>
            <a:ext cx="73152" cy="80467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980944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Hybrid GA+QL has competitive AWT — often beats GA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822191"/>
            <a:ext cx="3291840" cy="80467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3822191"/>
            <a:ext cx="73152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3877056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GA Only: 0% recovery, 16–78 violations depending on network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718304"/>
            <a:ext cx="3291840" cy="80467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4718304"/>
            <a:ext cx="73152" cy="8046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4773168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Q-Learning Only: safe but highest AWT (random route is inefficient)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5614416"/>
            <a:ext cx="3291840" cy="80467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5614416"/>
            <a:ext cx="73152" cy="80467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5669279"/>
            <a:ext cx="3017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As network grows (TC5: 100 nodes), advantage of hybrid approach increases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Learning Curves &amp; SOC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Agent learns over 500 episodes; battery stays safe with hybrid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15/24</a:t>
            </a:r>
          </a:p>
        </p:txBody>
      </p:sp>
      <p:pic>
        <p:nvPicPr>
          <p:cNvPr id="10" name="Picture 9" descr="plot03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943600" cy="2743200"/>
          </a:xfrm>
          <a:prstGeom prst="rect">
            <a:avLst/>
          </a:prstGeom>
        </p:spPr>
      </p:pic>
      <p:pic>
        <p:nvPicPr>
          <p:cNvPr id="11" name="Picture 10" descr="plot09_soc_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60520"/>
            <a:ext cx="5943600" cy="2377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00800" y="1417320"/>
            <a:ext cx="5577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How to Read These Plots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920240"/>
            <a:ext cx="521208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029968"/>
            <a:ext cx="5212080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0848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Learning Curve (top left)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Y-axis: SOC violations in each training episode.
X-axis: Episode number (0 to 500).
The rolling average (bold line) should go DOWN over time.
A flat line = agent isn't learning.
A decreasing line = agent is improving!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538728"/>
            <a:ext cx="5212080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935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SOC Trace (bottom left)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04487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Y-axis: Drone's battery level (0-100%).
X-axis: Each node visited in the route.
Red dashed line = danger threshold (30%).
GA Only (grey) dips below it repeatedly.
Hybrid methods (purple/red) stay ABOVE it — safe!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5047488"/>
            <a:ext cx="5212080" cy="141732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72B3"/>
                </a:solidFill>
              </a:rPr>
              <a:t>What the agent 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413248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Early training: many violations (random actions).
Late training: near-zero violations (learned policy).
The agent discovered: charge when critical/moderate,
continue when mild — NOT 'always charge'.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Overall Algorithm Performance (Radar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5 metrics on one chart — larger area = better overall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16/24</a:t>
            </a:r>
          </a:p>
        </p:txBody>
      </p:sp>
      <p:pic>
        <p:nvPicPr>
          <p:cNvPr id="10" name="Picture 9" descr="plot11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5943600" cy="5212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0" y="1417320"/>
            <a:ext cx="557784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How to Read the Radar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920240"/>
            <a:ext cx="521208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Each axis is one metric, normalised to 0–1.
The AREA enclosed by each algorithm's polygon
represents its OVERALL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971800"/>
            <a:ext cx="5212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971800"/>
            <a:ext cx="109728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017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GA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27355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Smallest polygon — good distance efficiency
but 0 recovery rate collapses the shape.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886200"/>
            <a:ext cx="5212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886200"/>
            <a:ext cx="109728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GA + Greedy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18795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Larger polygon — always recovers but
wastes time on mild disruptions.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4800600"/>
            <a:ext cx="5212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4800600"/>
            <a:ext cx="109728" cy="82296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4E52"/>
                </a:solidFill>
              </a:rPr>
              <a:t>Hybrid GA+QL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10235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Good polygon — learns nuanced recovery.
Balance of AWT and safety.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5715000"/>
            <a:ext cx="5212080" cy="8229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37960" y="5715000"/>
            <a:ext cx="109728" cy="82296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5760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Hybrid GA+DQL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601675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LARGEST polygon overall — best balance
across all 5 metrics. ⭐ Winner.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Multi-Seed Stability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Results are consistent across 5 random seeds — not a lucky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17/24</a:t>
            </a:r>
          </a:p>
        </p:txBody>
      </p:sp>
      <p:pic>
        <p:nvPicPr>
          <p:cNvPr id="10" name="Picture 9" descr="plot10_multi_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7772400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0" y="1417320"/>
            <a:ext cx="3749039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Why This Matters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38328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If we only ran one seed, results might be
lucky or unlucky. 5 different seeds with
different sensor layouts prove our method
generalises robustly.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035808"/>
            <a:ext cx="3566160" cy="10058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0906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GA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383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AWT: 161 ± 37
Viol: 41 ± 6
Recovery: 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4133087"/>
            <a:ext cx="3566160" cy="10058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Hybrid GA+QL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4805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AWT: 179 ± 30
Viol:  0 ± 0
Recovery: 38%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5230368"/>
            <a:ext cx="3566160" cy="100584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528523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72B3"/>
                </a:solidFill>
              </a:rPr>
              <a:t>Hybrid GA+DQL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5778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AWT: 169 ± 4
Viol:  0.2 ± 0.4
Recovery: 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80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Small σ on DQL = highly stable 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All 13 Visualisations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Each plot tells a different part of the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18/24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ot01_ga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627632" cy="1508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74320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GA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Fitness drops over generations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93391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93391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9111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Route 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9111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Clean paths, no crossings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3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ot03_lear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3" y="1417320"/>
            <a:ext cx="1627632" cy="15087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712463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3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Learning Curves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8183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Agent improves with 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31536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lot04_ga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417320"/>
            <a:ext cx="1627632" cy="15087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431536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77255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GA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77255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Hyperparameter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0607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lot05_ga_vs_fcf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7" y="1417320"/>
            <a:ext cx="1627632" cy="150876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150607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96327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GA vs FCFS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7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Beats naive baseline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lot06a_compare_aw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417320"/>
            <a:ext cx="1627632" cy="150876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869680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AWT Comparison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All 5 algorithms ranked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88752" y="141732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lot07_disruption_break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2" y="1417320"/>
            <a:ext cx="1627632" cy="150876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10588752" y="292608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34472" y="295351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Disruption Breakdown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4472" y="326440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Event type distribution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lot08_td_err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886200"/>
            <a:ext cx="1627632" cy="150876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274320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TD-Error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Q-learning stability over 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93391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lot09_soc_trac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3391" y="3886200"/>
            <a:ext cx="1627632" cy="150876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1993391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39111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SOC Traces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39111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Battery safe with hybrid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12463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plot10_multi_se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463" y="3886200"/>
            <a:ext cx="1627632" cy="150876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3712463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58183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Multi-Seed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58183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Reproducible results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31536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plot11_rad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1536" y="3886200"/>
            <a:ext cx="1627632" cy="150876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431536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77255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Radar Chart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7255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Overall performance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50607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plot12_ga_improve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0607" y="3886200"/>
            <a:ext cx="1627632" cy="150876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150607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6327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GA Improvement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96327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61% better with enhancements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69680" y="3886200"/>
            <a:ext cx="16276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plot13_cumulative_violati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9680" y="3886200"/>
            <a:ext cx="1627632" cy="150876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8869680" y="5394960"/>
            <a:ext cx="1627632" cy="82296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15400" y="5422392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234E"/>
                </a:solidFill>
              </a:rPr>
              <a:t>Cumulative Violations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15400" y="5733288"/>
            <a:ext cx="15361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C3E50"/>
                </a:solidFill>
              </a:rPr>
              <a:t>Training progress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Key Improvements Over the B.Tech FYP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Each change is justified, measured, and visible in the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19/24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3822191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0876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Order-Dependent Fitness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6596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Old FYP fitness had constant terms — GA was only optimising distance.
Fixed: T_wait, T_overtime now depend on route order.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3639311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9008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02666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📊  Result: Convergence: flat lines → 21–62%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822191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1" y="14813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150876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Tournament Selection (k=5)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196596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Old roulette wheel caused premature convergence — diversity lost.
Tournament maintains diversity, consistent selection pressure.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1" y="2926080"/>
            <a:ext cx="3639311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1" y="299008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02666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📊  Result: TC2: was 3% improvement, now 21.7%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141732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1417320"/>
            <a:ext cx="3822191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4813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150876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Full-Window 2-opt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196596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Old bounded window (15) missed long-range crossings.
Full window checks all pairs, removes every crossing.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2926080"/>
            <a:ext cx="3639311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75904" y="299008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302666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📊  Result: TC5: Δ=299 → Δ=4,821 (16× better)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84048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840480"/>
            <a:ext cx="3822191" cy="45720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904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93192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Adaptive Mutation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38912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Old fixed 1% rate was either too high (late) or too low (early).
Adaptive: 2%→0.3%, exploring early, exploiting late.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349240"/>
            <a:ext cx="3639311" cy="36576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41324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544982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72B3"/>
                </a:solidFill>
              </a:rPr>
              <a:t>📊  Result: Smoother convergence curves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384048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9392" y="3840480"/>
            <a:ext cx="3822191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1" y="3904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2312" y="393192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Double Q-Learning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438912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Regular Q-Learning overestimates values via the max operator.
Double Q: two tables cross-check, removing bias.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1" y="5349240"/>
            <a:ext cx="3639311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0831" y="541324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16552" y="544982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📊  Result: SOC violations: 0–6 → 0–1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4" y="3840480"/>
            <a:ext cx="3822191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4" y="3840480"/>
            <a:ext cx="3822191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75904" y="39044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87384" y="3931920"/>
            <a:ext cx="32278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Learning Rate Decay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4389120"/>
            <a:ext cx="363931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Fixed LR causes oscillating Q-values, never fully converges.
Decay 0.15→0.01 satisfies Robbins-Monro convergence conditions.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75904" y="5349240"/>
            <a:ext cx="3639311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75904" y="5413248"/>
            <a:ext cx="3639311" cy="5943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21624" y="5449824"/>
            <a:ext cx="3593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📊  Result: TD-error plots show clear stabilisation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Complete Results — TC5 (100 Nodes, Hardest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Largest network shows maximum benefit of hybrid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20/24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11640312" cy="5029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463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1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AWT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Survival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MC Eff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1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SOC Viol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1" y="1463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463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vs GA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965960"/>
            <a:ext cx="11640312" cy="71323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0116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GA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1" y="201168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292.5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1" y="201168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1" y="201168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0.628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1" y="201168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1" y="2011680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011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15768"/>
            <a:ext cx="1164031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7614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D8452"/>
                </a:solidFill>
              </a:rPr>
              <a:t>Q-Learning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1" y="27614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649.5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1" y="27614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1" y="27614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0.290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1" y="27614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1" y="2761488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0.333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76148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8452"/>
                </a:solidFill>
              </a:rPr>
              <a:t>AWT +357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65576"/>
            <a:ext cx="11640312" cy="713232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511296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GA + Greedy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0591" y="35112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323.9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9311" y="35112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1" y="35112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0.628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1" y="35112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1" y="3511296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1.000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3511296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</a:rPr>
              <a:t>AWT +31.4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15383"/>
            <a:ext cx="1164031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261104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4E52"/>
                </a:solidFill>
              </a:rPr>
              <a:t>Hybrid GA+QL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50591" y="42611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290.7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9311" y="42611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1" y="42611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0.628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1" y="42611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5471" y="4261104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0.349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261104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4E52"/>
                </a:solidFill>
              </a:rPr>
              <a:t>AWT −1.8 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965192"/>
            <a:ext cx="11640312" cy="713232"/>
          </a:xfrm>
          <a:prstGeom prst="rect">
            <a:avLst/>
          </a:prstGeom>
          <a:solidFill>
            <a:srgbClr val="E8F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4965192"/>
            <a:ext cx="73152" cy="71323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7472" y="5010912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Hybrid GA+DQL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50591" y="501091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253.7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9311" y="501091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0.020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1" y="501091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0.628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16751" y="501091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05471" y="5010912"/>
            <a:ext cx="1188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0.359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94192" y="5010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AWT −38.8 ✓✓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715000"/>
            <a:ext cx="11640312" cy="6858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78815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</a:rPr>
              <a:t>⭐  Hybrid GA+DQL:  Lowest AWT (−38.8 vs GA Only)  |  Near-zero violations (1 vs 78)  |  Recovery Rate 35.9%  |  BEST overall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If Professor Asks About the Code…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Quick reference for key code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21/24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852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4533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Q: Why `random.seed(42)`?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74519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Reproducibility. Every run gives identical results.
Without it, comparisons between runs are meaningless.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417320"/>
            <a:ext cx="5852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45336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Q: Why `req = [nd for nd in nodes if nd.re &lt; 50]`?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74519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Only sensors with &lt;50% battery need the drone.
The rest are healthy and don't need service.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87752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587752"/>
            <a:ext cx="5852160" cy="7315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71576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72B3"/>
                </a:solidFill>
              </a:rPr>
              <a:t>Q: Why `self._fitness = None` with caching?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4495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The GA evaluates fitness 150×500 = 75,000 times.
Caching avoids re-computing the same route twice — major speedup.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2587752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587752"/>
            <a:ext cx="585216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715768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Q: Why cap `elite_size = min(elite, pop//4)`?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044952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Old code had 37.5% elite — barely any evolution happening.
Capping at 25% ensures 75% of population goes through crossover.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58184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758184"/>
            <a:ext cx="585216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88620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</a:rPr>
              <a:t>Q: Why `ep_seed = ep*7 + 13`?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215384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Each training episode needs a different disruption pattern.
This ensures the agent can't memorise one sequence — must generalise.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758184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59" y="3758184"/>
            <a:ext cx="58521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886200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Q: Why `eps_override=0.0` in evaluation?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215384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During evaluation (the 'exam'), the agent must use what it learned.
eps=0 means 100% greedy — no random exploration.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28616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928616"/>
            <a:ext cx="585216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05663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</a:rPr>
              <a:t>Q: Why `state = (soc//10, charger_id, remaining)`?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538581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This discretises continuous state into 550 buckets.
Small enough for tabular Q-learning — no neural network needed.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4928616"/>
            <a:ext cx="58521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59" y="4928616"/>
            <a:ext cx="5852160" cy="73152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056631"/>
            <a:ext cx="5577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72B3"/>
                </a:solidFill>
              </a:rPr>
              <a:t>Q: Why `random.random() &lt; 0.5` in Double QL?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385816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A: 50% of updates use Q1→Q2, 50% use Q2→Q1.
This symmetric split removes the overestimation bias of regular Q.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What we'd do with more time and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22/24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760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7607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Tabular Q-Learning Scalability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202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550 states works for our setup, but with more drones or continuous
SOC representation, the state space explodes.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432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→ Replace with Deep Q-Network (DQN) using neural function approximation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760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7607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481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Single Drone Assumption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We modelled one drone serving the whole network.
Real deployments use drone fleets.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2651760"/>
            <a:ext cx="557784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7432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C1"/>
                </a:solidFill>
              </a:rPr>
              <a:t>→ Multi-Agent RL (QMIX, MAPPO) for coordinated fleet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5760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817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5760720" cy="41148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858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Simulated Disruptions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2976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Disruption probabilities are hand-tuned.
Real wind, hardware failures are more complex.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029200"/>
            <a:ext cx="5577840" cy="36576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12064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72B3"/>
                </a:solidFill>
              </a:rPr>
              <a:t>→ Domain randomisation + sim-to-real transfer for real UAV platforms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94760"/>
            <a:ext cx="57607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94760"/>
            <a:ext cx="57607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858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Static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29768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Sensor positions are fixed; no new nodes arrive mid-mission.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59" y="5029200"/>
            <a:ext cx="557784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512064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→ Dynamic node arrival models + online replanning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What we proved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562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CS5100 Foundations of AI  |  D. Raja Yadidiah Dakey  |  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562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23/24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71323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Main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6949440" cy="36576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11680"/>
            <a:ext cx="6858000" cy="12801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011680"/>
            <a:ext cx="9144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7568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Finding 1: Hybrid &gt; Either Layer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04872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GA-Only had 78 violations and 0% recovery on 100 nodes.
Q-Learning alone had the highest waiting times (random route).
Hybrid GA+DQL achieved lowest AWT AND near-zero violations.
→ Offline planning + online adaptation is strictly superior.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6858000" cy="12801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383280"/>
            <a:ext cx="91440" cy="12801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4728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</a:rPr>
              <a:t>Finding 2: Algorithm Improvements are Meaningful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76472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Tournament selection, adaptive mutation, full 2-opt together
gave 61.4% better GA fitness vs the original FYP approach.
→ Each improvement is independently justified and measurable.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754880"/>
            <a:ext cx="6858000" cy="12801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754880"/>
            <a:ext cx="91440" cy="1280160"/>
          </a:xfrm>
          <a:prstGeom prst="rect">
            <a:avLst/>
          </a:prstGeom>
          <a:solidFill>
            <a:srgbClr val="8172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18888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72B3"/>
                </a:solidFill>
              </a:rPr>
              <a:t>Finding 3: Double Q-Learning Reduces Violations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148072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Regular Q-Learning: 0–6 SOC violations per test case.
Double Q-Learning: 0–1 violations with more stable training.
→ Removing overestimation bias leads to safer flight decisions.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417320"/>
            <a:ext cx="4325112" cy="46634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15087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</a:rPr>
              <a:t>Why Does This Matter?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1920240"/>
            <a:ext cx="40233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02996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WRSNs power smart cities,
agriculture monitoring, disaster
response, and infrastructure sensing.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94436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AA"/>
                </a:solidFill>
              </a:rPr>
              <a:t>A drone that CRASHES from
low battery creates a hole in
the sensor network — potentially
catastrophic in critical applications.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858768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FFAA"/>
                </a:solidFill>
              </a:rPr>
              <a:t>Our hybrid approach keeps the
drone safe (0–1 violations)
while minimising sensor wait
times simultaneously.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773168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</a:rPr>
              <a:t>This extends the B.Tech FYP
from static planning to a full
adaptive intelligent system
ready for dynamic environments.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39C12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880360"/>
            <a:ext cx="5788152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CCFF"/>
                </a:solidFill>
              </a:rPr>
              <a:t>D. Raja Yadidiah Dakey  ·  CS5100 Foundations of AI  ·  Northeastern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657600"/>
            <a:ext cx="8531352" cy="2286000"/>
          </a:xfrm>
          <a:prstGeom prst="rect">
            <a:avLst/>
          </a:prstGeom>
          <a:solidFill>
            <a:srgbClr val="1E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7947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39C12"/>
                </a:solidFill>
              </a:rPr>
              <a:t>In one sentence: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206240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 Genetic Algorithm plans the optimal drone charging route offline,
while a Double Q-Learning agent handles random disruptions in real-time —
together achieving 61% better route quality and near-zero battery violations
compared to any single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AACC"/>
                </a:solidFill>
              </a:rPr>
              <a:t>Deliverables: Capstone_Final_Improved.ipynb  ·  Capstone_Final_Improved.py  ·  Dakey_Capstone_Thesis.tex  ·  21 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